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9" r:id="rId4"/>
    <p:sldId id="260" r:id="rId5"/>
    <p:sldId id="261" r:id="rId6"/>
    <p:sldId id="262" r:id="rId7"/>
    <p:sldId id="263" r:id="rId8"/>
    <p:sldId id="264" r:id="rId9"/>
    <p:sldId id="265" r:id="rId10"/>
    <p:sldId id="266" r:id="rId11"/>
    <p:sldId id="267" r:id="rId12"/>
    <p:sldId id="268" r:id="rId13"/>
    <p:sldId id="274" r:id="rId1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92AD435B-1BF8-45A3-9B27-5D45FD0B15CD}">
          <p14:sldIdLst>
            <p14:sldId id="257"/>
            <p14:sldId id="259"/>
            <p14:sldId id="260"/>
            <p14:sldId id="261"/>
            <p14:sldId id="262"/>
            <p14:sldId id="263"/>
            <p14:sldId id="264"/>
            <p14:sldId id="265"/>
            <p14:sldId id="266"/>
            <p14:sldId id="267"/>
            <p14:sldId id="268"/>
            <p14:sldId id="274"/>
          </p14:sldIdLst>
        </p14:section>
      </p14:sectionLst>
    </p:ext>
    <p:ext uri="{EFAFB233-063F-42B5-8137-9DF3F51BA10A}">
      <p15:sldGuideLst xmlns:p15="http://schemas.microsoft.com/office/powerpoint/2012/main">
        <p15:guide id="1" orient="horz" pos="2880" userDrawn="1">
          <p15:clr>
            <a:srgbClr val="A4A3A4"/>
          </p15:clr>
        </p15:guide>
        <p15:guide id="2" pos="219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5" d="100"/>
          <a:sy n="55" d="100"/>
        </p:scale>
        <p:origin x="248" y="36"/>
      </p:cViewPr>
      <p:guideLst>
        <p:guide orient="horz" pos="2880"/>
        <p:guide pos="219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1D8BD707-D9CF-40AE-B4C6-C98DA3205C09}" type="datetimeFigureOut">
              <a:rPr lang="en-US"/>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B6F15528-21DE-4FAA-801E-634DDDAF4B2B}" type="slidenum">
              <a:rPr/>
            </a:fld>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1D8BD707-D9CF-40AE-B4C6-C98DA3205C09}" type="datetimeFigureOut">
              <a:rPr lang="en-US"/>
            </a:fld>
            <a:endParaRPr lang="en-US"/>
          </a:p>
        </p:txBody>
      </p:sp>
      <p:sp>
        <p:nvSpPr>
          <p:cNvPr id="5" name="Footer Placeholder 4"/>
          <p:cNvSpPr>
            <a:spLocks noGrp="1"/>
          </p:cNvSpPr>
          <p:nvPr>
            <p:ph type="ftr" sz="quarter" idx="11"/>
          </p:nvPr>
        </p:nvSpPr>
        <p:spPr/>
        <p:txBody>
          <a:bodyPr/>
          <a:p/>
        </p:txBody>
      </p:sp>
      <p:sp>
        <p:nvSpPr>
          <p:cNvPr id="6" name="Slide Number Placeholder 5"/>
          <p:cNvSpPr>
            <a:spLocks noGrp="1"/>
          </p:cNvSpPr>
          <p:nvPr>
            <p:ph type="sldNum" sz="quarter" idx="12"/>
          </p:nvPr>
        </p:nvSpPr>
        <p:spPr/>
        <p:txBody>
          <a:bodyPr/>
          <a:p>
            <a:fld id="{B6F15528-21DE-4FAA-801E-634DDDAF4B2B}" type="slidenum">
              <a:rPr/>
            </a:fld>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1D8BD707-D9CF-40AE-B4C6-C98DA3205C09}" type="datetimeFigureOut">
              <a:rPr lang="en-US"/>
            </a:fld>
            <a:endParaRPr lang="en-US"/>
          </a:p>
        </p:txBody>
      </p:sp>
      <p:sp>
        <p:nvSpPr>
          <p:cNvPr id="6" name="Footer Placeholder 5"/>
          <p:cNvSpPr>
            <a:spLocks noGrp="1"/>
          </p:cNvSpPr>
          <p:nvPr>
            <p:ph type="ftr" sz="quarter" idx="11"/>
          </p:nvPr>
        </p:nvSpPr>
        <p:spPr/>
        <p:txBody>
          <a:bodyPr/>
          <a:p/>
        </p:txBody>
      </p:sp>
      <p:sp>
        <p:nvSpPr>
          <p:cNvPr id="7" name="Slide Number Placeholder 6"/>
          <p:cNvSpPr>
            <a:spLocks noGrp="1"/>
          </p:cNvSpPr>
          <p:nvPr>
            <p:ph type="sldNum" sz="quarter" idx="12"/>
          </p:nvPr>
        </p:nvSpPr>
        <p:spPr/>
        <p:txBody>
          <a:bodyPr/>
          <a:p>
            <a:fld id="{B6F15528-21DE-4FAA-801E-634DDDAF4B2B}" type="slidenum">
              <a:rPr/>
            </a:fld>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1D8BD707-D9CF-40AE-B4C6-C98DA3205C09}" type="datetimeFigureOut">
              <a:rPr lang="en-US"/>
            </a:fld>
            <a:endParaRPr lang="en-US"/>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fld id="{B6F15528-21DE-4FAA-801E-634DDDAF4B2B}" type="slidenum">
              <a:rPr/>
            </a:fld>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1D8BD707-D9CF-40AE-B4C6-C98DA3205C09}" type="datetimeFigureOut">
              <a:rPr lang="en-US"/>
            </a:fld>
            <a:endParaRPr lang="en-US"/>
          </a:p>
        </p:txBody>
      </p:sp>
      <p:sp>
        <p:nvSpPr>
          <p:cNvPr id="3" name="Footer Placeholder 2"/>
          <p:cNvSpPr>
            <a:spLocks noGrp="1"/>
          </p:cNvSpPr>
          <p:nvPr>
            <p:ph type="ftr" sz="quarter" idx="11"/>
          </p:nvPr>
        </p:nvSpPr>
        <p:spPr/>
        <p:txBody>
          <a:bodyPr/>
          <a:p/>
        </p:txBody>
      </p:sp>
      <p:sp>
        <p:nvSpPr>
          <p:cNvPr id="4" name="Slide Number Placeholder 3"/>
          <p:cNvSpPr>
            <a:spLocks noGrp="1"/>
          </p:cNvSpPr>
          <p:nvPr>
            <p:ph type="sldNum" sz="quarter" idx="12"/>
          </p:nvPr>
        </p:nvSpPr>
        <p:spPr/>
        <p:txBody>
          <a:bodyPr/>
          <a:p>
            <a:fld id="{B6F15528-21DE-4FAA-801E-634DDDAF4B2B}" type="slidenum">
              <a:rPr/>
            </a:fld>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1D8BD707-D9CF-40AE-B4C6-C98DA3205C09}" type="datetimeFigureOut">
              <a:rPr lang="en-US"/>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507105" y="1264603"/>
            <a:ext cx="6438900" cy="688975"/>
          </a:xfrm>
          <a:prstGeom prst="rect">
            <a:avLst/>
          </a:prstGeom>
        </p:spPr>
        <p:txBody>
          <a:bodyPr vert="horz" wrap="square" lIns="0" tIns="12065" rIns="0" bIns="0" rtlCol="0">
            <a:spAutoFit/>
          </a:bodyPr>
          <a:lstStyle/>
          <a:p>
            <a:pPr marL="109855" marR="5080" indent="-97790">
              <a:lnSpc>
                <a:spcPct val="100000"/>
              </a:lnSpc>
              <a:spcBef>
                <a:spcPts val="95"/>
              </a:spcBef>
            </a:pPr>
            <a:r>
              <a:rPr lang="en-IN" sz="4400" dirty="0">
                <a:solidFill>
                  <a:schemeClr val="tx1"/>
                </a:solidFill>
              </a:rPr>
              <a:t>BASIC CALUCULATOR</a:t>
            </a:r>
            <a:endParaRPr lang="en-IN" sz="4400" dirty="0">
              <a:solidFill>
                <a:schemeClr val="tx1"/>
              </a:solidFill>
            </a:endParaRPr>
          </a:p>
        </p:txBody>
      </p:sp>
      <p:sp>
        <p:nvSpPr>
          <p:cNvPr id="4" name="Subtitle 3"/>
          <p:cNvSpPr>
            <a:spLocks noGrp="1" noChangeArrowheads="1"/>
          </p:cNvSpPr>
          <p:nvPr>
            <p:ph type="subTitle" idx="1"/>
          </p:nvPr>
        </p:nvSpPr>
        <p:spPr>
          <a:xfrm>
            <a:off x="4596130" y="2422525"/>
            <a:ext cx="6979920" cy="2927350"/>
          </a:xfrm>
        </p:spPr>
        <p:txBody>
          <a:bodyPr/>
          <a:p>
            <a:endParaRPr lang="en-US"/>
          </a:p>
        </p:txBody>
      </p:sp>
      <p:sp>
        <p:nvSpPr>
          <p:cNvPr id="3" name="object 3"/>
          <p:cNvSpPr txBox="1"/>
          <p:nvPr/>
        </p:nvSpPr>
        <p:spPr>
          <a:xfrm flipH="1">
            <a:off x="6116320" y="2926080"/>
            <a:ext cx="4410710" cy="2244090"/>
          </a:xfrm>
          <a:prstGeom prst="rect">
            <a:avLst/>
          </a:prstGeom>
        </p:spPr>
        <p:txBody>
          <a:bodyPr vert="horz" wrap="square" lIns="0" tIns="12700" rIns="0" bIns="0" rtlCol="0">
            <a:spAutoFit/>
          </a:bodyPr>
          <a:lstStyle/>
          <a:p>
            <a:pPr marL="12700">
              <a:lnSpc>
                <a:spcPct val="100000"/>
              </a:lnSpc>
              <a:spcBef>
                <a:spcPts val="100"/>
              </a:spcBef>
            </a:pPr>
            <a:r>
              <a:rPr sz="1800" u="sng" dirty="0">
                <a:solidFill>
                  <a:srgbClr val="252525"/>
                </a:solidFill>
                <a:uFill>
                  <a:solidFill>
                    <a:srgbClr val="252525"/>
                  </a:solidFill>
                </a:uFill>
                <a:latin typeface="Times New Roman" panose="02020603050405020304"/>
                <a:cs typeface="Times New Roman" panose="02020603050405020304"/>
              </a:rPr>
              <a:t> </a:t>
            </a:r>
            <a:r>
              <a:rPr sz="2000" u="sng"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rPr>
              <a:t> </a:t>
            </a:r>
            <a:r>
              <a:rPr sz="2000" u="sng" spc="-5"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rPr>
              <a:t>Presented</a:t>
            </a:r>
            <a:r>
              <a:rPr sz="2000" u="sng" spc="-50"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rPr>
              <a:t> </a:t>
            </a:r>
            <a:r>
              <a:rPr sz="2000" u="sng" spc="-5"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rPr>
              <a:t>By:</a:t>
            </a:r>
            <a:endParaRPr lang="en-IN" sz="2000" u="sng" spc="-5"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endParaRPr>
          </a:p>
          <a:p>
            <a:pPr marL="12700">
              <a:lnSpc>
                <a:spcPct val="100000"/>
              </a:lnSpc>
              <a:spcBef>
                <a:spcPts val="100"/>
              </a:spcBef>
            </a:pPr>
            <a:endParaRPr lang="en-IN" sz="2000" u="sng" spc="-5"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endParaRPr>
          </a:p>
          <a:p>
            <a:pPr marL="12700">
              <a:lnSpc>
                <a:spcPct val="100000"/>
              </a:lnSpc>
              <a:spcBef>
                <a:spcPts val="100"/>
              </a:spcBef>
            </a:pPr>
            <a:r>
              <a:rPr lang="en-IN" sz="2000" u="sng" spc="-5"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rPr>
              <a:t>NAME : INDUJA KAKARLA</a:t>
            </a:r>
            <a:endParaRPr lang="en-IN" sz="2000" u="sng" spc="-5"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endParaRPr>
          </a:p>
          <a:p>
            <a:pPr marL="12700">
              <a:lnSpc>
                <a:spcPct val="100000"/>
              </a:lnSpc>
              <a:spcBef>
                <a:spcPts val="100"/>
              </a:spcBef>
            </a:pPr>
            <a:endParaRPr lang="en-IN" sz="2000" u="sng" spc="-5"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endParaRPr>
          </a:p>
          <a:p>
            <a:pPr marL="12700">
              <a:lnSpc>
                <a:spcPct val="100000"/>
              </a:lnSpc>
              <a:spcBef>
                <a:spcPts val="100"/>
              </a:spcBef>
            </a:pPr>
            <a:r>
              <a:rPr lang="en-IN" sz="2000" u="sng" spc="-5"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rPr>
              <a:t>ORGANIZATION  : MICRO IT</a:t>
            </a:r>
            <a:endParaRPr lang="en-IN" sz="2000" u="sng" spc="-5"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endParaRPr>
          </a:p>
          <a:p>
            <a:pPr marL="12700">
              <a:lnSpc>
                <a:spcPct val="100000"/>
              </a:lnSpc>
              <a:spcBef>
                <a:spcPts val="100"/>
              </a:spcBef>
            </a:pPr>
            <a:endParaRPr lang="en-IN" sz="2000" u="sng" spc="-5"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endParaRPr>
          </a:p>
          <a:p>
            <a:pPr marL="12700">
              <a:lnSpc>
                <a:spcPct val="100000"/>
              </a:lnSpc>
              <a:spcBef>
                <a:spcPts val="100"/>
              </a:spcBef>
            </a:pPr>
            <a:r>
              <a:rPr lang="en-IN" sz="2000" u="sng" spc="-5" dirty="0">
                <a:solidFill>
                  <a:srgbClr val="252525"/>
                </a:solidFill>
                <a:uFill>
                  <a:solidFill>
                    <a:srgbClr val="252525"/>
                  </a:solidFill>
                </a:uFill>
                <a:latin typeface="Yu Gothic UI Semibold" panose="020B0700000000000000" charset="-128"/>
                <a:ea typeface="Yu Gothic UI Semibold" panose="020B0700000000000000" charset="-128"/>
                <a:cs typeface="Times New Roman" panose="02020603050405020304"/>
              </a:rPr>
              <a:t>TOPIC : BASIC CALUCULATOR</a:t>
            </a:r>
            <a:endParaRPr sz="2000" dirty="0">
              <a:latin typeface="Yu Gothic UI Semibold" panose="020B0700000000000000" charset="-128"/>
              <a:ea typeface="Yu Gothic UI Semibold" panose="020B0700000000000000" charset="-128"/>
              <a:cs typeface="Times New Roman" panose="02020603050405020304"/>
            </a:endParaRPr>
          </a:p>
        </p:txBody>
      </p:sp>
      <p:sp>
        <p:nvSpPr>
          <p:cNvPr id="6" name="object 6"/>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83660" y="915035"/>
            <a:ext cx="5946140" cy="690245"/>
          </a:xfrm>
          <a:prstGeom prst="rect">
            <a:avLst/>
          </a:prstGeom>
        </p:spPr>
        <p:txBody>
          <a:bodyPr vert="horz" wrap="square" lIns="0" tIns="13335" rIns="0" bIns="0" rtlCol="0">
            <a:spAutoFit/>
          </a:bodyPr>
          <a:lstStyle/>
          <a:p>
            <a:pPr marL="12700" algn="l">
              <a:lnSpc>
                <a:spcPct val="100000"/>
              </a:lnSpc>
              <a:spcBef>
                <a:spcPts val="105"/>
              </a:spcBef>
            </a:pPr>
            <a:r>
              <a:rPr lang="en-IN" sz="4400" spc="-5" dirty="0">
                <a:solidFill>
                  <a:schemeClr val="accent1"/>
                </a:solidFill>
              </a:rPr>
              <a:t>INTRODUCTION</a:t>
            </a:r>
            <a:endParaRPr lang="en-IN" sz="4400" spc="-5" dirty="0">
              <a:solidFill>
                <a:schemeClr val="accent1"/>
              </a:solidFill>
            </a:endParaRPr>
          </a:p>
        </p:txBody>
      </p:sp>
      <p:sp>
        <p:nvSpPr>
          <p:cNvPr id="3" name="object 3"/>
          <p:cNvSpPr txBox="1">
            <a:spLocks noGrp="1"/>
          </p:cNvSpPr>
          <p:nvPr>
            <p:ph type="body" idx="1"/>
          </p:nvPr>
        </p:nvSpPr>
        <p:spPr>
          <a:xfrm>
            <a:off x="609600" y="1875155"/>
            <a:ext cx="9919335" cy="4162425"/>
          </a:xfrm>
          <a:prstGeom prst="rect">
            <a:avLst/>
          </a:prstGeom>
        </p:spPr>
        <p:txBody>
          <a:bodyPr vert="horz" wrap="square" lIns="0" tIns="12700" rIns="0" bIns="0" rtlCol="0">
            <a:noAutofit/>
          </a:bodyPr>
          <a:lstStyle/>
          <a:p>
            <a:pPr marL="171450" marR="5080">
              <a:lnSpc>
                <a:spcPct val="150000"/>
              </a:lnSpc>
              <a:spcBef>
                <a:spcPts val="100"/>
              </a:spcBef>
            </a:pPr>
            <a:r>
              <a:rPr lang="en-US" sz="2000" dirty="0">
                <a:latin typeface="Yu Gothic UI Semibold" panose="020B0700000000000000" charset="-128"/>
                <a:ea typeface="Yu Gothic UI Semibold" panose="020B0700000000000000" charset="-128"/>
                <a:sym typeface="+mn-ea"/>
              </a:rPr>
              <a:t>The calculator is one of the simplest applications used in daily life. It performs basic arithmetic operations such as addition, subtraction, multiplication, and division. The Basic Calculator project is a simple and beginner-friendly application designed to perform basic arithmetic operations such as addition, subtraction, multiplication, and division. The project was developed as part of an internship to enhance foundational programming skills and understand how user interfaces interact with logic through inputs and outputs. It provides an interactive and intuitive platform for users to perform mathematical calculations with ease.</a:t>
            </a:r>
            <a:endParaRPr lang="en-IN" sz="2000" dirty="0">
              <a:latin typeface="Yu Gothic UI Semibold" panose="020B0700000000000000" charset="-128"/>
              <a:ea typeface="Yu Gothic UI Semibold" panose="020B0700000000000000" charset="-128"/>
            </a:endParaRPr>
          </a:p>
          <a:p>
            <a:pPr marL="171450" marR="5080">
              <a:lnSpc>
                <a:spcPct val="150000"/>
              </a:lnSpc>
              <a:spcBef>
                <a:spcPts val="100"/>
              </a:spcBef>
            </a:pPr>
            <a:endParaRPr sz="2000">
              <a:latin typeface="Yu Gothic UI Semibold" panose="020B0700000000000000" charset="-128"/>
              <a:ea typeface="Yu Gothic UI Semibold" panose="020B0700000000000000" charset="-128"/>
              <a:cs typeface="Times New Roman" panose="02020603050405020304"/>
            </a:endParaRPr>
          </a:p>
        </p:txBody>
      </p:sp>
      <p:sp>
        <p:nvSpPr>
          <p:cNvPr id="4" name="object 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05325" y="841375"/>
            <a:ext cx="3590290" cy="871220"/>
          </a:xfrm>
          <a:prstGeom prst="rect">
            <a:avLst/>
          </a:prstGeom>
        </p:spPr>
        <p:txBody>
          <a:bodyPr vert="horz" wrap="square" lIns="0" tIns="12065" rIns="0" bIns="0" rtlCol="0">
            <a:noAutofit/>
          </a:bodyPr>
          <a:lstStyle/>
          <a:p>
            <a:pPr marL="12700">
              <a:lnSpc>
                <a:spcPct val="100000"/>
              </a:lnSpc>
              <a:spcBef>
                <a:spcPts val="95"/>
              </a:spcBef>
            </a:pPr>
            <a:r>
              <a:rPr lang="en-IN" sz="4400" dirty="0">
                <a:solidFill>
                  <a:schemeClr val="accent1"/>
                </a:solidFill>
                <a:sym typeface="+mn-ea"/>
              </a:rPr>
              <a:t>FEATURES</a:t>
            </a:r>
            <a:endParaRPr lang="en-IN" sz="4400" dirty="0">
              <a:solidFill>
                <a:schemeClr val="accent1"/>
              </a:solidFill>
              <a:sym typeface="+mn-ea"/>
            </a:endParaRPr>
          </a:p>
        </p:txBody>
      </p:sp>
      <p:sp>
        <p:nvSpPr>
          <p:cNvPr id="3" name="object 3"/>
          <p:cNvSpPr txBox="1"/>
          <p:nvPr/>
        </p:nvSpPr>
        <p:spPr>
          <a:xfrm>
            <a:off x="1035685" y="2043430"/>
            <a:ext cx="9234170" cy="3880485"/>
          </a:xfrm>
          <a:prstGeom prst="rect">
            <a:avLst/>
          </a:prstGeom>
        </p:spPr>
        <p:txBody>
          <a:bodyPr vert="horz" wrap="square" lIns="0" tIns="12065" rIns="0" bIns="0" rtlCol="0">
            <a:noAutofit/>
          </a:bodyPr>
          <a:lstStyle/>
          <a:p>
            <a:pPr marL="698500" indent="-571500">
              <a:lnSpc>
                <a:spcPct val="100000"/>
              </a:lnSpc>
              <a:spcBef>
                <a:spcPts val="95"/>
              </a:spcBef>
              <a:buFont typeface="Arial" panose="020B0604020202020204" pitchFamily="34" charset="0"/>
              <a:buChar char="•"/>
            </a:pPr>
            <a:r>
              <a:rPr lang="en-IN" sz="3600" dirty="0">
                <a:sym typeface="+mn-ea"/>
              </a:rPr>
              <a:t>BASIC FEATURES </a:t>
            </a:r>
            <a:endParaRPr lang="en-IN" sz="3600" dirty="0">
              <a:sym typeface="+mn-ea"/>
            </a:endParaRPr>
          </a:p>
          <a:p>
            <a:pPr marL="127000" indent="0">
              <a:lnSpc>
                <a:spcPct val="100000"/>
              </a:lnSpc>
              <a:spcBef>
                <a:spcPts val="95"/>
              </a:spcBef>
              <a:buFont typeface="Arial" panose="020B0604020202020204" pitchFamily="34" charset="0"/>
              <a:buNone/>
            </a:pPr>
            <a:r>
              <a:rPr lang="en-IN" sz="3600" dirty="0">
                <a:sym typeface="+mn-ea"/>
              </a:rPr>
              <a:t> </a:t>
            </a:r>
            <a:endParaRPr lang="en-IN" sz="1600" dirty="0">
              <a:sym typeface="+mn-ea"/>
            </a:endParaRPr>
          </a:p>
          <a:p>
            <a:pPr marL="469900" indent="-342900">
              <a:lnSpc>
                <a:spcPct val="100000"/>
              </a:lnSpc>
              <a:spcBef>
                <a:spcPts val="95"/>
              </a:spcBef>
              <a:buFont typeface="Arial" panose="020B0604020202020204" pitchFamily="34" charset="0"/>
              <a:buChar char="•"/>
            </a:pPr>
            <a:r>
              <a:rPr lang="en-US" sz="2400" dirty="0">
                <a:latin typeface="Yu Gothic UI Semibold" panose="020B0700000000000000" charset="-128"/>
                <a:ea typeface="Yu Gothic UI Semibold" panose="020B0700000000000000" charset="-128"/>
                <a:sym typeface="+mn-ea"/>
              </a:rPr>
              <a:t>Addition (+) :  Adds two numbers.</a:t>
            </a:r>
            <a:endParaRPr lang="en-US" sz="2400" dirty="0">
              <a:latin typeface="Yu Gothic UI Semibold" panose="020B0700000000000000" charset="-128"/>
              <a:ea typeface="Yu Gothic UI Semibold" panose="020B0700000000000000" charset="-128"/>
              <a:sym typeface="+mn-ea"/>
            </a:endParaRPr>
          </a:p>
          <a:p>
            <a:pPr marL="469900" indent="-342900">
              <a:lnSpc>
                <a:spcPct val="100000"/>
              </a:lnSpc>
              <a:spcBef>
                <a:spcPts val="95"/>
              </a:spcBef>
              <a:buFont typeface="Arial" panose="020B0604020202020204" pitchFamily="34" charset="0"/>
              <a:buChar char="•"/>
            </a:pPr>
            <a:r>
              <a:rPr lang="en-US" sz="2400" dirty="0">
                <a:latin typeface="Yu Gothic UI Semibold" panose="020B0700000000000000" charset="-128"/>
                <a:ea typeface="Yu Gothic UI Semibold" panose="020B0700000000000000" charset="-128"/>
                <a:sym typeface="+mn-ea"/>
              </a:rPr>
              <a:t>Subtraction (-) :  Subtracts second number from first.</a:t>
            </a:r>
            <a:endParaRPr lang="en-US" sz="2400" dirty="0">
              <a:latin typeface="Yu Gothic UI Semibold" panose="020B0700000000000000" charset="-128"/>
              <a:ea typeface="Yu Gothic UI Semibold" panose="020B0700000000000000" charset="-128"/>
              <a:sym typeface="+mn-ea"/>
            </a:endParaRPr>
          </a:p>
          <a:p>
            <a:pPr marL="469900" indent="-342900">
              <a:lnSpc>
                <a:spcPct val="100000"/>
              </a:lnSpc>
              <a:spcBef>
                <a:spcPts val="95"/>
              </a:spcBef>
              <a:buFont typeface="Arial" panose="020B0604020202020204" pitchFamily="34" charset="0"/>
              <a:buChar char="•"/>
            </a:pPr>
            <a:r>
              <a:rPr lang="en-US" sz="2400" dirty="0">
                <a:latin typeface="Yu Gothic UI Semibold" panose="020B0700000000000000" charset="-128"/>
                <a:ea typeface="Yu Gothic UI Semibold" panose="020B0700000000000000" charset="-128"/>
                <a:sym typeface="+mn-ea"/>
              </a:rPr>
              <a:t>Multiplication (*) : Multiplies two numbers.</a:t>
            </a:r>
            <a:endParaRPr lang="en-US" sz="2400" dirty="0">
              <a:latin typeface="Yu Gothic UI Semibold" panose="020B0700000000000000" charset="-128"/>
              <a:ea typeface="Yu Gothic UI Semibold" panose="020B0700000000000000" charset="-128"/>
              <a:sym typeface="+mn-ea"/>
            </a:endParaRPr>
          </a:p>
          <a:p>
            <a:pPr marL="469900" indent="-342900">
              <a:lnSpc>
                <a:spcPct val="100000"/>
              </a:lnSpc>
              <a:spcBef>
                <a:spcPts val="95"/>
              </a:spcBef>
              <a:buFont typeface="Arial" panose="020B0604020202020204" pitchFamily="34" charset="0"/>
              <a:buChar char="•"/>
            </a:pPr>
            <a:r>
              <a:rPr lang="en-US" sz="2400" dirty="0">
                <a:latin typeface="Yu Gothic UI Semibold" panose="020B0700000000000000" charset="-128"/>
                <a:ea typeface="Yu Gothic UI Semibold" panose="020B0700000000000000" charset="-128"/>
                <a:sym typeface="+mn-ea"/>
              </a:rPr>
              <a:t>Division (/) : Divides first number by second (checks for divide-by-zero).</a:t>
            </a:r>
            <a:endParaRPr lang="en-IN" sz="2400" dirty="0">
              <a:latin typeface="Yu Gothic UI Semibold" panose="020B0700000000000000" charset="-128"/>
              <a:ea typeface="Yu Gothic UI Semibold" panose="020B0700000000000000" charset="-128"/>
            </a:endParaRPr>
          </a:p>
          <a:p>
            <a:pPr marL="127000">
              <a:lnSpc>
                <a:spcPct val="100000"/>
              </a:lnSpc>
              <a:spcBef>
                <a:spcPts val="95"/>
              </a:spcBef>
            </a:pPr>
            <a:endParaRPr sz="2400">
              <a:latin typeface="Yu Gothic UI Semibold" panose="020B0700000000000000" charset="-128"/>
              <a:ea typeface="Yu Gothic UI Semibold" panose="020B0700000000000000" charset="-128"/>
              <a:cs typeface="Times New Roman" panose="02020603050405020304"/>
            </a:endParaRPr>
          </a:p>
        </p:txBody>
      </p:sp>
      <p:sp>
        <p:nvSpPr>
          <p:cNvPr id="4" name="object 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33900" y="704850"/>
            <a:ext cx="3405505" cy="758190"/>
          </a:xfrm>
          <a:prstGeom prst="rect">
            <a:avLst/>
          </a:prstGeom>
        </p:spPr>
        <p:txBody>
          <a:bodyPr vert="horz" wrap="square" lIns="0" tIns="13335" rIns="0" bIns="0" rtlCol="0">
            <a:noAutofit/>
          </a:bodyPr>
          <a:lstStyle/>
          <a:p>
            <a:pPr marL="12700">
              <a:lnSpc>
                <a:spcPct val="100000"/>
              </a:lnSpc>
              <a:spcBef>
                <a:spcPts val="105"/>
              </a:spcBef>
            </a:pPr>
            <a:r>
              <a:rPr lang="en-IN" sz="4400" dirty="0">
                <a:solidFill>
                  <a:schemeClr val="accent1"/>
                </a:solidFill>
                <a:sym typeface="+mn-ea"/>
              </a:rPr>
              <a:t>FEATURES</a:t>
            </a:r>
            <a:endParaRPr lang="en-IN" sz="4400" spc="-5" dirty="0">
              <a:solidFill>
                <a:schemeClr val="accent1"/>
              </a:solidFill>
              <a:sym typeface="+mn-ea"/>
            </a:endParaRPr>
          </a:p>
        </p:txBody>
      </p:sp>
      <p:sp>
        <p:nvSpPr>
          <p:cNvPr id="3" name="object 3"/>
          <p:cNvSpPr txBox="1">
            <a:spLocks noGrp="1"/>
          </p:cNvSpPr>
          <p:nvPr>
            <p:ph type="body" idx="1"/>
          </p:nvPr>
        </p:nvSpPr>
        <p:spPr>
          <a:xfrm>
            <a:off x="762000" y="1582420"/>
            <a:ext cx="9748520" cy="4175125"/>
          </a:xfrm>
          <a:prstGeom prst="rect">
            <a:avLst/>
          </a:prstGeom>
        </p:spPr>
        <p:txBody>
          <a:bodyPr vert="horz" wrap="square" lIns="0" tIns="220675" rIns="0" bIns="0" rtlCol="0">
            <a:noAutofit/>
          </a:bodyPr>
          <a:lstStyle/>
          <a:p>
            <a:pPr marL="330200" marR="5080">
              <a:lnSpc>
                <a:spcPct val="150000"/>
              </a:lnSpc>
              <a:spcBef>
                <a:spcPts val="100"/>
              </a:spcBef>
            </a:pPr>
            <a:r>
              <a:rPr lang="en-IN" sz="3600" dirty="0">
                <a:sym typeface="+mn-ea"/>
              </a:rPr>
              <a:t>ADVANCED FEATURES</a:t>
            </a:r>
            <a:endParaRPr lang="en-IN" sz="3600" dirty="0">
              <a:sym typeface="+mn-ea"/>
            </a:endParaRPr>
          </a:p>
          <a:p>
            <a:pPr marL="0" marR="5080" indent="0">
              <a:lnSpc>
                <a:spcPct val="150000"/>
              </a:lnSpc>
              <a:spcBef>
                <a:spcPts val="100"/>
              </a:spcBef>
              <a:buNone/>
            </a:pPr>
            <a:endParaRPr lang="en-IN" sz="3600" dirty="0">
              <a:sym typeface="+mn-ea"/>
            </a:endParaRPr>
          </a:p>
          <a:p>
            <a:pPr marL="330200" marR="5080">
              <a:lnSpc>
                <a:spcPct val="150000"/>
              </a:lnSpc>
              <a:spcBef>
                <a:spcPts val="100"/>
              </a:spcBef>
            </a:pPr>
            <a:r>
              <a:rPr lang="en-US" sz="2400" dirty="0">
                <a:latin typeface="Yu Gothic UI Semibold" panose="020B0700000000000000" charset="-128"/>
                <a:ea typeface="Yu Gothic UI Semibold" panose="020B0700000000000000" charset="-128"/>
                <a:sym typeface="+mn-ea"/>
              </a:rPr>
              <a:t>Modulus (%): Returns the remainder.</a:t>
            </a:r>
            <a:endParaRPr lang="en-US" sz="2400" dirty="0">
              <a:latin typeface="Yu Gothic UI Semibold" panose="020B0700000000000000" charset="-128"/>
              <a:ea typeface="Yu Gothic UI Semibold" panose="020B0700000000000000" charset="-128"/>
              <a:sym typeface="+mn-ea"/>
            </a:endParaRPr>
          </a:p>
          <a:p>
            <a:pPr marL="330200" marR="5080">
              <a:lnSpc>
                <a:spcPct val="150000"/>
              </a:lnSpc>
              <a:spcBef>
                <a:spcPts val="100"/>
              </a:spcBef>
            </a:pPr>
            <a:r>
              <a:rPr lang="en-US" sz="2400" dirty="0">
                <a:latin typeface="Yu Gothic UI Semibold" panose="020B0700000000000000" charset="-128"/>
                <a:ea typeface="Yu Gothic UI Semibold" panose="020B0700000000000000" charset="-128"/>
                <a:sym typeface="+mn-ea"/>
              </a:rPr>
              <a:t>Power (^): First number to the power of second.</a:t>
            </a:r>
            <a:endParaRPr lang="en-US" sz="2400" dirty="0">
              <a:latin typeface="Yu Gothic UI Semibold" panose="020B0700000000000000" charset="-128"/>
              <a:ea typeface="Yu Gothic UI Semibold" panose="020B0700000000000000" charset="-128"/>
              <a:sym typeface="+mn-ea"/>
            </a:endParaRPr>
          </a:p>
          <a:p>
            <a:pPr marL="330200" marR="5080">
              <a:lnSpc>
                <a:spcPct val="150000"/>
              </a:lnSpc>
              <a:spcBef>
                <a:spcPts val="100"/>
              </a:spcBef>
            </a:pPr>
            <a:r>
              <a:rPr lang="en-US" sz="2400" dirty="0">
                <a:latin typeface="Yu Gothic UI Semibold" panose="020B0700000000000000" charset="-128"/>
                <a:ea typeface="Yu Gothic UI Semibold" panose="020B0700000000000000" charset="-128"/>
                <a:sym typeface="+mn-ea"/>
              </a:rPr>
              <a:t>Clear Button: To reset all fields.</a:t>
            </a:r>
            <a:endParaRPr lang="en-US" sz="2400" dirty="0">
              <a:latin typeface="Yu Gothic UI Semibold" panose="020B0700000000000000" charset="-128"/>
              <a:ea typeface="Yu Gothic UI Semibold" panose="020B0700000000000000" charset="-128"/>
              <a:sym typeface="+mn-ea"/>
            </a:endParaRPr>
          </a:p>
          <a:p>
            <a:pPr marL="330200" marR="5080">
              <a:lnSpc>
                <a:spcPct val="150000"/>
              </a:lnSpc>
              <a:spcBef>
                <a:spcPts val="100"/>
              </a:spcBef>
            </a:pPr>
            <a:r>
              <a:rPr lang="en-US" sz="2400" dirty="0">
                <a:latin typeface="Yu Gothic UI Semibold" panose="020B0700000000000000" charset="-128"/>
                <a:ea typeface="Yu Gothic UI Semibold" panose="020B0700000000000000" charset="-128"/>
                <a:sym typeface="+mn-ea"/>
              </a:rPr>
              <a:t>GUI Buttons: Instead of typing, users click on buttons.</a:t>
            </a:r>
            <a:endParaRPr lang="en-IN" sz="2400" dirty="0">
              <a:latin typeface="Yu Gothic UI Semibold" panose="020B0700000000000000" charset="-128"/>
              <a:ea typeface="Yu Gothic UI Semibold" panose="020B0700000000000000" charset="-128"/>
            </a:endParaRPr>
          </a:p>
          <a:p>
            <a:pPr marL="330200" marR="5080">
              <a:lnSpc>
                <a:spcPct val="150000"/>
              </a:lnSpc>
              <a:spcBef>
                <a:spcPts val="100"/>
              </a:spcBef>
            </a:pPr>
            <a:endParaRPr sz="2400" spc="-5" dirty="0">
              <a:latin typeface="Yu Gothic UI Semibold" panose="020B0700000000000000" charset="-128"/>
              <a:ea typeface="Yu Gothic UI Semibold" panose="020B0700000000000000" charset="-128"/>
            </a:endParaRPr>
          </a:p>
        </p:txBody>
      </p:sp>
      <p:sp>
        <p:nvSpPr>
          <p:cNvPr id="4" name="object 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37954" y="1252220"/>
            <a:ext cx="6460490" cy="567055"/>
          </a:xfrm>
          <a:prstGeom prst="rect">
            <a:avLst/>
          </a:prstGeom>
        </p:spPr>
        <p:txBody>
          <a:bodyPr vert="horz" wrap="square" lIns="0" tIns="13335" rIns="0" bIns="0" rtlCol="0">
            <a:spAutoFit/>
          </a:bodyPr>
          <a:lstStyle/>
          <a:p>
            <a:pPr marL="12700">
              <a:lnSpc>
                <a:spcPct val="100000"/>
              </a:lnSpc>
              <a:spcBef>
                <a:spcPts val="105"/>
              </a:spcBef>
            </a:pPr>
            <a:endParaRPr spc="-30" dirty="0"/>
          </a:p>
        </p:txBody>
      </p:sp>
      <p:pic>
        <p:nvPicPr>
          <p:cNvPr id="6" name="Picture 5" descr="custom-upload-1671904442"/>
          <p:cNvPicPr>
            <a:picLocks noChangeAspect="1"/>
          </p:cNvPicPr>
          <p:nvPr/>
        </p:nvPicPr>
        <p:blipFill>
          <a:blip r:embed="rId1"/>
          <a:stretch>
            <a:fillRect/>
          </a:stretch>
        </p:blipFill>
        <p:spPr>
          <a:xfrm>
            <a:off x="1143000" y="406400"/>
            <a:ext cx="9076690" cy="5778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17265" y="198120"/>
            <a:ext cx="6983095" cy="1129665"/>
          </a:xfrm>
          <a:prstGeom prst="rect">
            <a:avLst/>
          </a:prstGeom>
        </p:spPr>
        <p:txBody>
          <a:bodyPr vert="horz" wrap="square" lIns="0" tIns="13335" rIns="0" bIns="0" rtlCol="0">
            <a:noAutofit/>
          </a:bodyPr>
          <a:lstStyle/>
          <a:p>
            <a:pPr marL="12700">
              <a:lnSpc>
                <a:spcPct val="100000"/>
              </a:lnSpc>
              <a:spcBef>
                <a:spcPts val="105"/>
              </a:spcBef>
            </a:pPr>
            <a:r>
              <a:rPr lang="en-IN" sz="4400" dirty="0">
                <a:solidFill>
                  <a:schemeClr val="accent1"/>
                </a:solidFill>
                <a:sym typeface="+mn-ea"/>
              </a:rPr>
              <a:t>CONCEPTS USED</a:t>
            </a:r>
            <a:endParaRPr lang="en-IN" sz="4400" spc="-5" dirty="0">
              <a:solidFill>
                <a:schemeClr val="accent1"/>
              </a:solidFill>
              <a:sym typeface="+mn-ea"/>
            </a:endParaRPr>
          </a:p>
        </p:txBody>
      </p:sp>
      <p:sp>
        <p:nvSpPr>
          <p:cNvPr id="3" name="object 3"/>
          <p:cNvSpPr txBox="1"/>
          <p:nvPr/>
        </p:nvSpPr>
        <p:spPr>
          <a:xfrm>
            <a:off x="762000" y="1553845"/>
            <a:ext cx="9987915" cy="4531995"/>
          </a:xfrm>
          <a:prstGeom prst="rect">
            <a:avLst/>
          </a:prstGeom>
        </p:spPr>
        <p:txBody>
          <a:bodyPr vert="horz" wrap="square" lIns="0" tIns="225425" rIns="0" bIns="0" rtlCol="0">
            <a:noAutofit/>
          </a:bodyPr>
          <a:lstStyle/>
          <a:p>
            <a:pPr marL="298450" indent="-285750">
              <a:lnSpc>
                <a:spcPct val="100000"/>
              </a:lnSpc>
              <a:spcBef>
                <a:spcPts val="1775"/>
              </a:spcBef>
              <a:buClr>
                <a:srgbClr val="83992A"/>
              </a:buClr>
              <a:buSzPct val="116000"/>
              <a:buFont typeface="Arial MT"/>
              <a:buChar char="•"/>
              <a:tabLst>
                <a:tab pos="298450" algn="l"/>
              </a:tabLst>
            </a:pPr>
            <a:r>
              <a:rPr lang="en-US" sz="2000" dirty="0">
                <a:latin typeface="Yu Gothic UI Semibold" panose="020B0700000000000000" charset="-128"/>
                <a:ea typeface="Yu Gothic UI Semibold" panose="020B0700000000000000" charset="-128"/>
                <a:sym typeface="+mn-ea"/>
              </a:rPr>
              <a:t>1. User Interface Design : Created an easy-to-use layout using HTML/CSS or GUI frameworks like </a:t>
            </a:r>
            <a:r>
              <a:rPr lang="en-US" sz="2000" dirty="0" err="1">
                <a:latin typeface="Yu Gothic UI Semibold" panose="020B0700000000000000" charset="-128"/>
                <a:ea typeface="Yu Gothic UI Semibold" panose="020B0700000000000000" charset="-128"/>
                <a:sym typeface="+mn-ea"/>
              </a:rPr>
              <a:t>Tkinter</a:t>
            </a:r>
            <a:r>
              <a:rPr lang="en-US" sz="2000" dirty="0">
                <a:latin typeface="Yu Gothic UI Semibold" panose="020B0700000000000000" charset="-128"/>
                <a:ea typeface="Yu Gothic UI Semibold" panose="020B0700000000000000" charset="-128"/>
                <a:sym typeface="+mn-ea"/>
              </a:rPr>
              <a:t> (Python) or Swing (Java).Used buttons for digits and operations, and a display area to show input and results.</a:t>
            </a:r>
            <a:endParaRPr lang="en-US" sz="2000" dirty="0">
              <a:latin typeface="Yu Gothic UI Semibold" panose="020B0700000000000000" charset="-128"/>
              <a:ea typeface="Yu Gothic UI Semibold" panose="020B0700000000000000" charset="-128"/>
              <a:sym typeface="+mn-ea"/>
            </a:endParaRPr>
          </a:p>
          <a:p>
            <a:pPr marL="298450" indent="-285750">
              <a:lnSpc>
                <a:spcPct val="100000"/>
              </a:lnSpc>
              <a:spcBef>
                <a:spcPts val="1775"/>
              </a:spcBef>
              <a:buClr>
                <a:srgbClr val="83992A"/>
              </a:buClr>
              <a:buSzPct val="116000"/>
              <a:buFont typeface="Arial MT"/>
              <a:buChar char="•"/>
              <a:tabLst>
                <a:tab pos="298450" algn="l"/>
              </a:tabLst>
            </a:pPr>
            <a:r>
              <a:rPr lang="en-US" sz="2000" dirty="0">
                <a:latin typeface="Yu Gothic UI Semibold" panose="020B0700000000000000" charset="-128"/>
                <a:ea typeface="Yu Gothic UI Semibold" panose="020B0700000000000000" charset="-128"/>
                <a:sym typeface="+mn-ea"/>
              </a:rPr>
              <a:t>2. Event Handling : Attached functions to button clicks for real-time input handling. Ensured the calculator responds to user actions without delays.</a:t>
            </a:r>
            <a:endParaRPr lang="en-US" sz="2000" dirty="0">
              <a:latin typeface="Yu Gothic UI Semibold" panose="020B0700000000000000" charset="-128"/>
              <a:ea typeface="Yu Gothic UI Semibold" panose="020B0700000000000000" charset="-128"/>
              <a:sym typeface="+mn-ea"/>
            </a:endParaRPr>
          </a:p>
          <a:p>
            <a:pPr marL="298450" indent="-285750">
              <a:lnSpc>
                <a:spcPct val="100000"/>
              </a:lnSpc>
              <a:spcBef>
                <a:spcPts val="1775"/>
              </a:spcBef>
              <a:buClr>
                <a:srgbClr val="83992A"/>
              </a:buClr>
              <a:buSzPct val="116000"/>
              <a:buFont typeface="Arial MT"/>
              <a:buChar char="•"/>
              <a:tabLst>
                <a:tab pos="298450" algn="l"/>
              </a:tabLst>
            </a:pPr>
            <a:r>
              <a:rPr lang="en-US" sz="2000" dirty="0">
                <a:latin typeface="Yu Gothic UI Semibold" panose="020B0700000000000000" charset="-128"/>
                <a:ea typeface="Yu Gothic UI Semibold" panose="020B0700000000000000" charset="-128"/>
                <a:sym typeface="+mn-ea"/>
              </a:rPr>
              <a:t>3. Conditional Statements &amp; Logic :Used if-else conditions to check the type of operation and perform the correct calculation.</a:t>
            </a:r>
            <a:endParaRPr lang="en-US" sz="2000" dirty="0">
              <a:latin typeface="Yu Gothic UI Semibold" panose="020B0700000000000000" charset="-128"/>
              <a:ea typeface="Yu Gothic UI Semibold" panose="020B0700000000000000" charset="-128"/>
              <a:sym typeface="+mn-ea"/>
            </a:endParaRPr>
          </a:p>
          <a:p>
            <a:pPr marL="298450" indent="-285750">
              <a:lnSpc>
                <a:spcPct val="100000"/>
              </a:lnSpc>
              <a:spcBef>
                <a:spcPts val="1775"/>
              </a:spcBef>
              <a:buClr>
                <a:srgbClr val="83992A"/>
              </a:buClr>
              <a:buSzPct val="116000"/>
              <a:buFont typeface="Arial MT"/>
              <a:buChar char="•"/>
              <a:tabLst>
                <a:tab pos="298450" algn="l"/>
              </a:tabLst>
            </a:pPr>
            <a:r>
              <a:rPr lang="en-US" sz="2000" dirty="0">
                <a:latin typeface="Yu Gothic UI Semibold" panose="020B0700000000000000" charset="-128"/>
                <a:ea typeface="Yu Gothic UI Semibold" panose="020B0700000000000000" charset="-128"/>
                <a:sym typeface="+mn-ea"/>
              </a:rPr>
              <a:t>4. Data Types &amp; Operations : Worked with integers and floating-point numbers. Performed arithmetic operations like +, -, *, /.</a:t>
            </a:r>
            <a:endParaRPr lang="en-US" sz="2000" dirty="0">
              <a:latin typeface="Yu Gothic UI Semibold" panose="020B0700000000000000" charset="-128"/>
              <a:ea typeface="Yu Gothic UI Semibold" panose="020B0700000000000000" charset="-128"/>
              <a:sym typeface="+mn-ea"/>
            </a:endParaRPr>
          </a:p>
          <a:p>
            <a:pPr marL="298450" indent="-285750">
              <a:lnSpc>
                <a:spcPct val="100000"/>
              </a:lnSpc>
              <a:spcBef>
                <a:spcPts val="1775"/>
              </a:spcBef>
              <a:buClr>
                <a:srgbClr val="83992A"/>
              </a:buClr>
              <a:buSzPct val="116000"/>
              <a:buFont typeface="Arial MT"/>
              <a:buChar char="•"/>
              <a:tabLst>
                <a:tab pos="298450" algn="l"/>
              </a:tabLst>
            </a:pPr>
            <a:r>
              <a:rPr lang="en-US" sz="2000" dirty="0">
                <a:latin typeface="Yu Gothic UI Semibold" panose="020B0700000000000000" charset="-128"/>
                <a:ea typeface="Yu Gothic UI Semibold" panose="020B0700000000000000" charset="-128"/>
                <a:sym typeface="+mn-ea"/>
              </a:rPr>
              <a:t>5. Input Validation : Prevented invalid inputs (e.g., division by zero)</a:t>
            </a:r>
            <a:endParaRPr sz="2000">
              <a:latin typeface="Yu Gothic UI Semibold" panose="020B0700000000000000" charset="-128"/>
              <a:ea typeface="Yu Gothic UI Semibold" panose="020B0700000000000000" charset="-128"/>
              <a:cs typeface="Times New Roman" panose="02020603050405020304"/>
            </a:endParaRPr>
          </a:p>
        </p:txBody>
      </p:sp>
      <p:sp>
        <p:nvSpPr>
          <p:cNvPr id="4" name="object 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98279"/>
            <a:ext cx="10972800" cy="567055"/>
          </a:xfrm>
          <a:prstGeom prst="rect">
            <a:avLst/>
          </a:prstGeom>
        </p:spPr>
        <p:txBody>
          <a:bodyPr vert="horz" wrap="square" lIns="0" tIns="13335" rIns="0" bIns="0" rtlCol="0">
            <a:spAutoFit/>
          </a:bodyPr>
          <a:lstStyle/>
          <a:p>
            <a:pPr marL="12700">
              <a:lnSpc>
                <a:spcPct val="100000"/>
              </a:lnSpc>
              <a:spcBef>
                <a:spcPts val="105"/>
              </a:spcBef>
            </a:pPr>
            <a:endParaRPr spc="-5" dirty="0"/>
          </a:p>
        </p:txBody>
      </p:sp>
      <p:sp>
        <p:nvSpPr>
          <p:cNvPr id="3" name="object 3"/>
          <p:cNvSpPr txBox="1"/>
          <p:nvPr/>
        </p:nvSpPr>
        <p:spPr>
          <a:xfrm>
            <a:off x="944245" y="2610485"/>
            <a:ext cx="10370820" cy="3438525"/>
          </a:xfrm>
          <a:prstGeom prst="rect">
            <a:avLst/>
          </a:prstGeom>
        </p:spPr>
        <p:txBody>
          <a:bodyPr vert="horz" wrap="square" lIns="0" tIns="12065" rIns="0" bIns="0" rtlCol="0">
            <a:noAutofit/>
          </a:bodyPr>
          <a:lstStyle/>
          <a:p>
            <a:pPr marL="12700">
              <a:lnSpc>
                <a:spcPct val="100000"/>
              </a:lnSpc>
              <a:spcBef>
                <a:spcPts val="95"/>
              </a:spcBef>
            </a:pPr>
            <a:endParaRPr sz="1600">
              <a:latin typeface="Times New Roman" panose="02020603050405020304"/>
              <a:cs typeface="Times New Roman" panose="02020603050405020304"/>
            </a:endParaRPr>
          </a:p>
        </p:txBody>
      </p:sp>
      <p:sp>
        <p:nvSpPr>
          <p:cNvPr id="4" name="object 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pic>
        <p:nvPicPr>
          <p:cNvPr id="5" name="Picture 4" descr="maxresdefault"/>
          <p:cNvPicPr>
            <a:picLocks noChangeAspect="1"/>
          </p:cNvPicPr>
          <p:nvPr/>
        </p:nvPicPr>
        <p:blipFill>
          <a:blip r:embed="rId1"/>
          <a:stretch>
            <a:fillRect/>
          </a:stretch>
        </p:blipFill>
        <p:spPr>
          <a:xfrm>
            <a:off x="1222375" y="688975"/>
            <a:ext cx="9321800" cy="55333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8495" y="762000"/>
            <a:ext cx="9249410" cy="1101725"/>
          </a:xfrm>
          <a:prstGeom prst="rect">
            <a:avLst/>
          </a:prstGeom>
        </p:spPr>
        <p:txBody>
          <a:bodyPr vert="horz" wrap="square" lIns="0" tIns="12700" rIns="0" bIns="0" rtlCol="0">
            <a:noAutofit/>
          </a:bodyPr>
          <a:lstStyle/>
          <a:p>
            <a:pPr marL="12700">
              <a:lnSpc>
                <a:spcPct val="100000"/>
              </a:lnSpc>
              <a:spcBef>
                <a:spcPts val="100"/>
              </a:spcBef>
            </a:pPr>
            <a:r>
              <a:rPr lang="en-IN" sz="5400" dirty="0">
                <a:solidFill>
                  <a:schemeClr val="accent1"/>
                </a:solidFill>
                <a:sym typeface="+mn-ea"/>
              </a:rPr>
              <a:t>     </a:t>
            </a:r>
            <a:r>
              <a:rPr lang="en-IN" sz="4400" dirty="0">
                <a:solidFill>
                  <a:schemeClr val="accent1"/>
                </a:solidFill>
                <a:sym typeface="+mn-ea"/>
              </a:rPr>
              <a:t>WORK FLOW OF THE</a:t>
            </a:r>
            <a:br>
              <a:rPr lang="en-IN" sz="4400" dirty="0">
                <a:solidFill>
                  <a:schemeClr val="accent1"/>
                </a:solidFill>
                <a:sym typeface="+mn-ea"/>
              </a:rPr>
            </a:br>
            <a:r>
              <a:rPr lang="en-IN" sz="4400" dirty="0">
                <a:solidFill>
                  <a:schemeClr val="accent1"/>
                </a:solidFill>
                <a:sym typeface="+mn-ea"/>
              </a:rPr>
              <a:t>           CALUCULATOR</a:t>
            </a:r>
            <a:endParaRPr lang="en-IN" sz="4400" dirty="0">
              <a:solidFill>
                <a:schemeClr val="accent1"/>
              </a:solidFill>
              <a:sym typeface="+mn-ea"/>
            </a:endParaRPr>
          </a:p>
        </p:txBody>
      </p:sp>
      <p:sp>
        <p:nvSpPr>
          <p:cNvPr id="3" name="object 3"/>
          <p:cNvSpPr txBox="1"/>
          <p:nvPr/>
        </p:nvSpPr>
        <p:spPr>
          <a:xfrm>
            <a:off x="1035685" y="2657475"/>
            <a:ext cx="9475470" cy="2723515"/>
          </a:xfrm>
          <a:prstGeom prst="rect">
            <a:avLst/>
          </a:prstGeom>
        </p:spPr>
        <p:txBody>
          <a:bodyPr vert="horz" wrap="square" lIns="0" tIns="12700" rIns="0" bIns="0" rtlCol="0">
            <a:noAutofit/>
          </a:bodyPr>
          <a:lstStyle/>
          <a:p>
            <a:pPr marL="298450" marR="5080" indent="-285750">
              <a:lnSpc>
                <a:spcPct val="150000"/>
              </a:lnSpc>
              <a:spcBef>
                <a:spcPts val="100"/>
              </a:spcBef>
              <a:buClr>
                <a:srgbClr val="83992A"/>
              </a:buClr>
              <a:buSzPct val="114000"/>
              <a:buFont typeface="Arial MT"/>
              <a:buChar char="•"/>
              <a:tabLst>
                <a:tab pos="297815" algn="l"/>
                <a:tab pos="298450" algn="l"/>
              </a:tabLst>
            </a:pPr>
            <a:r>
              <a:rPr lang="en-US" sz="2000" dirty="0">
                <a:latin typeface="Yu Gothic UI Semibold" panose="020B0700000000000000" charset="-128"/>
                <a:ea typeface="Yu Gothic UI Semibold" panose="020B0700000000000000" charset="-128"/>
                <a:sym typeface="+mn-ea"/>
              </a:rPr>
              <a:t>1. User Input: User enters two numbers and chooses an operation (either by typing or clicking).</a:t>
            </a:r>
            <a:endParaRPr lang="en-US" sz="2000" dirty="0">
              <a:latin typeface="Yu Gothic UI Semibold" panose="020B0700000000000000" charset="-128"/>
              <a:ea typeface="Yu Gothic UI Semibold" panose="020B0700000000000000" charset="-128"/>
              <a:sym typeface="+mn-ea"/>
            </a:endParaRPr>
          </a:p>
          <a:p>
            <a:pPr marL="298450" marR="5080" indent="-285750">
              <a:lnSpc>
                <a:spcPct val="150000"/>
              </a:lnSpc>
              <a:spcBef>
                <a:spcPts val="100"/>
              </a:spcBef>
              <a:buClr>
                <a:srgbClr val="83992A"/>
              </a:buClr>
              <a:buSzPct val="114000"/>
              <a:buFont typeface="Arial MT"/>
              <a:buChar char="•"/>
              <a:tabLst>
                <a:tab pos="297815" algn="l"/>
                <a:tab pos="298450" algn="l"/>
              </a:tabLst>
            </a:pPr>
            <a:r>
              <a:rPr lang="en-US" sz="2000" dirty="0">
                <a:latin typeface="Yu Gothic UI Semibold" panose="020B0700000000000000" charset="-128"/>
                <a:ea typeface="Yu Gothic UI Semibold" panose="020B0700000000000000" charset="-128"/>
                <a:sym typeface="+mn-ea"/>
              </a:rPr>
              <a:t>2. Processing Logic: The calculator checks which operation to perform.</a:t>
            </a:r>
            <a:endParaRPr lang="en-US" sz="2000" dirty="0">
              <a:latin typeface="Yu Gothic UI Semibold" panose="020B0700000000000000" charset="-128"/>
              <a:ea typeface="Yu Gothic UI Semibold" panose="020B0700000000000000" charset="-128"/>
              <a:sym typeface="+mn-ea"/>
            </a:endParaRPr>
          </a:p>
          <a:p>
            <a:pPr marL="298450" marR="5080" indent="-285750">
              <a:lnSpc>
                <a:spcPct val="150000"/>
              </a:lnSpc>
              <a:spcBef>
                <a:spcPts val="100"/>
              </a:spcBef>
              <a:buClr>
                <a:srgbClr val="83992A"/>
              </a:buClr>
              <a:buSzPct val="114000"/>
              <a:buFont typeface="Arial MT"/>
              <a:buChar char="•"/>
              <a:tabLst>
                <a:tab pos="297815" algn="l"/>
                <a:tab pos="298450" algn="l"/>
              </a:tabLst>
            </a:pPr>
            <a:r>
              <a:rPr lang="en-US" sz="2000" dirty="0">
                <a:latin typeface="Yu Gothic UI Semibold" panose="020B0700000000000000" charset="-128"/>
                <a:ea typeface="Yu Gothic UI Semibold" panose="020B0700000000000000" charset="-128"/>
                <a:sym typeface="+mn-ea"/>
              </a:rPr>
              <a:t>3. Calculation: Performs the operation using functions or expressions.</a:t>
            </a:r>
            <a:endParaRPr lang="en-US" sz="2000" dirty="0">
              <a:latin typeface="Yu Gothic UI Semibold" panose="020B0700000000000000" charset="-128"/>
              <a:ea typeface="Yu Gothic UI Semibold" panose="020B0700000000000000" charset="-128"/>
              <a:sym typeface="+mn-ea"/>
            </a:endParaRPr>
          </a:p>
          <a:p>
            <a:pPr marL="298450" marR="5080" indent="-285750">
              <a:lnSpc>
                <a:spcPct val="150000"/>
              </a:lnSpc>
              <a:spcBef>
                <a:spcPts val="100"/>
              </a:spcBef>
              <a:buClr>
                <a:srgbClr val="83992A"/>
              </a:buClr>
              <a:buSzPct val="114000"/>
              <a:buFont typeface="Arial MT"/>
              <a:buChar char="•"/>
              <a:tabLst>
                <a:tab pos="297815" algn="l"/>
                <a:tab pos="298450" algn="l"/>
              </a:tabLst>
            </a:pPr>
            <a:r>
              <a:rPr lang="en-US" sz="2000" dirty="0">
                <a:latin typeface="Yu Gothic UI Semibold" panose="020B0700000000000000" charset="-128"/>
                <a:ea typeface="Yu Gothic UI Semibold" panose="020B0700000000000000" charset="-128"/>
                <a:sym typeface="+mn-ea"/>
              </a:rPr>
              <a:t>4. Display Output: Shows the result on screen.</a:t>
            </a:r>
            <a:endParaRPr lang="en-US" sz="2000" dirty="0">
              <a:latin typeface="Yu Gothic UI Semibold" panose="020B0700000000000000" charset="-128"/>
              <a:ea typeface="Yu Gothic UI Semibold" panose="020B0700000000000000" charset="-128"/>
              <a:sym typeface="+mn-ea"/>
            </a:endParaRPr>
          </a:p>
          <a:p>
            <a:pPr marL="298450" marR="5080" indent="-285750">
              <a:lnSpc>
                <a:spcPct val="150000"/>
              </a:lnSpc>
              <a:spcBef>
                <a:spcPts val="100"/>
              </a:spcBef>
              <a:buClr>
                <a:srgbClr val="83992A"/>
              </a:buClr>
              <a:buSzPct val="114000"/>
              <a:buFont typeface="Arial MT"/>
              <a:buChar char="•"/>
              <a:tabLst>
                <a:tab pos="297815" algn="l"/>
                <a:tab pos="298450" algn="l"/>
              </a:tabLst>
            </a:pPr>
            <a:r>
              <a:rPr lang="en-US" sz="2000" dirty="0">
                <a:latin typeface="Yu Gothic UI Semibold" panose="020B0700000000000000" charset="-128"/>
                <a:ea typeface="Yu Gothic UI Semibold" panose="020B0700000000000000" charset="-128"/>
                <a:sym typeface="+mn-ea"/>
              </a:rPr>
              <a:t>5. Repeat/Clear: User can do more calculations or reset.</a:t>
            </a:r>
            <a:endParaRPr sz="2000">
              <a:latin typeface="Yu Gothic UI Semibold" panose="020B0700000000000000" charset="-128"/>
              <a:ea typeface="Yu Gothic UI Semibold" panose="020B0700000000000000" charset="-128"/>
              <a:cs typeface="Times New Roman" panose="02020603050405020304"/>
            </a:endParaRPr>
          </a:p>
        </p:txBody>
      </p:sp>
      <p:sp>
        <p:nvSpPr>
          <p:cNvPr id="4" name="object 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7990" y="812800"/>
            <a:ext cx="7020560" cy="1329690"/>
          </a:xfrm>
          <a:prstGeom prst="rect">
            <a:avLst/>
          </a:prstGeom>
        </p:spPr>
        <p:txBody>
          <a:bodyPr vert="horz" wrap="square" lIns="0" tIns="13335" rIns="0" bIns="0" rtlCol="0">
            <a:noAutofit/>
          </a:bodyPr>
          <a:lstStyle/>
          <a:p>
            <a:pPr marL="12700">
              <a:lnSpc>
                <a:spcPct val="100000"/>
              </a:lnSpc>
              <a:spcBef>
                <a:spcPts val="105"/>
              </a:spcBef>
            </a:pPr>
            <a:r>
              <a:rPr lang="en-IN" sz="4400" dirty="0">
                <a:solidFill>
                  <a:schemeClr val="accent1"/>
                </a:solidFill>
                <a:sym typeface="+mn-ea"/>
              </a:rPr>
              <a:t>TECHNOLOGIES USED</a:t>
            </a:r>
            <a:endParaRPr lang="en-IN" sz="4400" spc="95" dirty="0">
              <a:solidFill>
                <a:schemeClr val="accent1"/>
              </a:solidFill>
              <a:sym typeface="+mn-ea"/>
            </a:endParaRPr>
          </a:p>
        </p:txBody>
      </p:sp>
      <p:sp>
        <p:nvSpPr>
          <p:cNvPr id="3" name="object 3"/>
          <p:cNvSpPr txBox="1"/>
          <p:nvPr/>
        </p:nvSpPr>
        <p:spPr>
          <a:xfrm>
            <a:off x="1120140" y="2432050"/>
            <a:ext cx="9993630" cy="3165475"/>
          </a:xfrm>
          <a:prstGeom prst="rect">
            <a:avLst/>
          </a:prstGeom>
        </p:spPr>
        <p:txBody>
          <a:bodyPr vert="horz" wrap="square" lIns="0" tIns="12700" rIns="0" bIns="0" rtlCol="0">
            <a:noAutofit/>
          </a:bodyPr>
          <a:lstStyle/>
          <a:p>
            <a:pPr marL="298450" marR="5080" indent="-285750">
              <a:lnSpc>
                <a:spcPct val="130000"/>
              </a:lnSpc>
              <a:spcBef>
                <a:spcPts val="100"/>
              </a:spcBef>
              <a:buClr>
                <a:srgbClr val="83992A"/>
              </a:buClr>
              <a:buSzPct val="113000"/>
              <a:buFont typeface="Arial MT"/>
              <a:buChar char="•"/>
              <a:tabLst>
                <a:tab pos="297815" algn="l"/>
                <a:tab pos="298450" algn="l"/>
              </a:tabLst>
            </a:pPr>
            <a:r>
              <a:rPr lang="en-US" sz="2400" dirty="0">
                <a:latin typeface="Yu Gothic UI Semibold" panose="020B0700000000000000" charset="-128"/>
                <a:ea typeface="Yu Gothic UI Semibold" panose="020B0700000000000000" charset="-128"/>
                <a:sym typeface="+mn-ea"/>
              </a:rPr>
              <a:t>You can customize based on what you did.</a:t>
            </a:r>
            <a:endParaRPr lang="en-US" sz="2400" dirty="0">
              <a:latin typeface="Yu Gothic UI Semibold" panose="020B0700000000000000" charset="-128"/>
              <a:ea typeface="Yu Gothic UI Semibold" panose="020B0700000000000000" charset="-128"/>
              <a:sym typeface="+mn-ea"/>
            </a:endParaRPr>
          </a:p>
          <a:p>
            <a:pPr marL="0" indent="0">
              <a:buNone/>
            </a:pPr>
            <a:r>
              <a:rPr lang="en-US" sz="2400" dirty="0">
                <a:latin typeface="Yu Gothic UI Semibold" panose="020B0700000000000000" charset="-128"/>
                <a:ea typeface="Yu Gothic UI Semibold" panose="020B0700000000000000" charset="-128"/>
                <a:sym typeface="+mn-ea"/>
              </a:rPr>
              <a:t>    </a:t>
            </a:r>
            <a:r>
              <a:rPr lang="en-US" sz="3200" dirty="0">
                <a:latin typeface="Yu Gothic UI Semibold" panose="020B0700000000000000" charset="-128"/>
                <a:ea typeface="Yu Gothic UI Semibold" panose="020B0700000000000000" charset="-128"/>
                <a:sym typeface="+mn-ea"/>
              </a:rPr>
              <a:t> For example:</a:t>
            </a:r>
            <a:endParaRPr lang="en-US" sz="3200" dirty="0">
              <a:latin typeface="Yu Gothic UI Semibold" panose="020B0700000000000000" charset="-128"/>
              <a:ea typeface="Yu Gothic UI Semibold" panose="020B0700000000000000" charset="-128"/>
              <a:sym typeface="+mn-ea"/>
            </a:endParaRPr>
          </a:p>
          <a:p>
            <a:pPr marL="298450" marR="5080" indent="-285750">
              <a:lnSpc>
                <a:spcPct val="130000"/>
              </a:lnSpc>
              <a:spcBef>
                <a:spcPts val="100"/>
              </a:spcBef>
              <a:buClr>
                <a:srgbClr val="83992A"/>
              </a:buClr>
              <a:buSzPct val="113000"/>
              <a:buFont typeface="Arial MT"/>
              <a:buChar char="•"/>
              <a:tabLst>
                <a:tab pos="297815" algn="l"/>
                <a:tab pos="298450" algn="l"/>
              </a:tabLst>
            </a:pPr>
            <a:r>
              <a:rPr lang="en-US" sz="2400" dirty="0">
                <a:latin typeface="Yu Gothic UI Semibold" panose="020B0700000000000000" charset="-128"/>
                <a:ea typeface="Yu Gothic UI Semibold" panose="020B0700000000000000" charset="-128"/>
                <a:sym typeface="+mn-ea"/>
              </a:rPr>
              <a:t>Python: Easy syntax, good for beginners. Can use </a:t>
            </a:r>
            <a:r>
              <a:rPr lang="en-US" sz="2400" dirty="0" err="1">
                <a:latin typeface="Yu Gothic UI Semibold" panose="020B0700000000000000" charset="-128"/>
                <a:ea typeface="Yu Gothic UI Semibold" panose="020B0700000000000000" charset="-128"/>
                <a:sym typeface="+mn-ea"/>
              </a:rPr>
              <a:t>Tkinter</a:t>
            </a:r>
            <a:r>
              <a:rPr lang="en-US" sz="2400" dirty="0">
                <a:latin typeface="Yu Gothic UI Semibold" panose="020B0700000000000000" charset="-128"/>
                <a:ea typeface="Yu Gothic UI Semibold" panose="020B0700000000000000" charset="-128"/>
                <a:sym typeface="+mn-ea"/>
              </a:rPr>
              <a:t> for GUI.</a:t>
            </a:r>
            <a:endParaRPr lang="en-US" sz="2400" dirty="0">
              <a:latin typeface="Yu Gothic UI Semibold" panose="020B0700000000000000" charset="-128"/>
              <a:ea typeface="Yu Gothic UI Semibold" panose="020B0700000000000000" charset="-128"/>
              <a:sym typeface="+mn-ea"/>
            </a:endParaRPr>
          </a:p>
          <a:p>
            <a:pPr marL="298450" marR="5080" indent="-285750">
              <a:lnSpc>
                <a:spcPct val="130000"/>
              </a:lnSpc>
              <a:spcBef>
                <a:spcPts val="100"/>
              </a:spcBef>
              <a:buClr>
                <a:srgbClr val="83992A"/>
              </a:buClr>
              <a:buSzPct val="113000"/>
              <a:buFont typeface="Arial MT"/>
              <a:buChar char="•"/>
              <a:tabLst>
                <a:tab pos="297815" algn="l"/>
                <a:tab pos="298450" algn="l"/>
              </a:tabLst>
            </a:pPr>
            <a:r>
              <a:rPr lang="en-US" sz="2400" dirty="0">
                <a:latin typeface="Yu Gothic UI Semibold" panose="020B0700000000000000" charset="-128"/>
                <a:ea typeface="Yu Gothic UI Semibold" panose="020B0700000000000000" charset="-128"/>
                <a:sym typeface="+mn-ea"/>
              </a:rPr>
              <a:t>C/C++: Console-based calculator.</a:t>
            </a:r>
            <a:endParaRPr lang="en-US" sz="2400" dirty="0">
              <a:latin typeface="Yu Gothic UI Semibold" panose="020B0700000000000000" charset="-128"/>
              <a:ea typeface="Yu Gothic UI Semibold" panose="020B0700000000000000" charset="-128"/>
              <a:sym typeface="+mn-ea"/>
            </a:endParaRPr>
          </a:p>
          <a:p>
            <a:pPr marL="298450" marR="5080" indent="-285750">
              <a:lnSpc>
                <a:spcPct val="130000"/>
              </a:lnSpc>
              <a:spcBef>
                <a:spcPts val="100"/>
              </a:spcBef>
              <a:buClr>
                <a:srgbClr val="83992A"/>
              </a:buClr>
              <a:buSzPct val="113000"/>
              <a:buFont typeface="Arial MT"/>
              <a:buChar char="•"/>
              <a:tabLst>
                <a:tab pos="297815" algn="l"/>
                <a:tab pos="298450" algn="l"/>
              </a:tabLst>
            </a:pPr>
            <a:r>
              <a:rPr lang="en-US" sz="2400" dirty="0">
                <a:latin typeface="Yu Gothic UI Semibold" panose="020B0700000000000000" charset="-128"/>
                <a:ea typeface="Yu Gothic UI Semibold" panose="020B0700000000000000" charset="-128"/>
                <a:sym typeface="+mn-ea"/>
              </a:rPr>
              <a:t>Java: Uses classes and methods.</a:t>
            </a:r>
            <a:endParaRPr lang="en-US" sz="2400" dirty="0">
              <a:latin typeface="Yu Gothic UI Semibold" panose="020B0700000000000000" charset="-128"/>
              <a:ea typeface="Yu Gothic UI Semibold" panose="020B0700000000000000" charset="-128"/>
              <a:sym typeface="+mn-ea"/>
            </a:endParaRPr>
          </a:p>
          <a:p>
            <a:pPr marL="298450" marR="5080" indent="-285750">
              <a:lnSpc>
                <a:spcPct val="130000"/>
              </a:lnSpc>
              <a:spcBef>
                <a:spcPts val="100"/>
              </a:spcBef>
              <a:buClr>
                <a:srgbClr val="83992A"/>
              </a:buClr>
              <a:buSzPct val="113000"/>
              <a:buFont typeface="Arial MT"/>
              <a:buChar char="•"/>
              <a:tabLst>
                <a:tab pos="297815" algn="l"/>
                <a:tab pos="298450" algn="l"/>
              </a:tabLst>
            </a:pPr>
            <a:r>
              <a:rPr lang="en-US" sz="2400" dirty="0">
                <a:latin typeface="Yu Gothic UI Semibold" panose="020B0700000000000000" charset="-128"/>
                <a:ea typeface="Yu Gothic UI Semibold" panose="020B0700000000000000" charset="-128"/>
                <a:sym typeface="+mn-ea"/>
              </a:rPr>
              <a:t>JavaScript + HTML/CSS: For a web-based calculator.</a:t>
            </a:r>
            <a:endParaRPr sz="2400">
              <a:latin typeface="Yu Gothic UI Semibold" panose="020B0700000000000000" charset="-128"/>
              <a:ea typeface="Yu Gothic UI Semibold" panose="020B0700000000000000" charset="-128"/>
              <a:cs typeface="Times New Roman" panose="02020603050405020304"/>
            </a:endParaRPr>
          </a:p>
        </p:txBody>
      </p:sp>
      <p:sp>
        <p:nvSpPr>
          <p:cNvPr id="4" name="object 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09110" y="1254125"/>
            <a:ext cx="3992245" cy="690245"/>
          </a:xfrm>
          <a:prstGeom prst="rect">
            <a:avLst/>
          </a:prstGeom>
        </p:spPr>
        <p:txBody>
          <a:bodyPr vert="horz" wrap="square" lIns="0" tIns="13335" rIns="0" bIns="0" rtlCol="0">
            <a:spAutoFit/>
          </a:bodyPr>
          <a:lstStyle/>
          <a:p>
            <a:pPr marL="12700">
              <a:lnSpc>
                <a:spcPct val="100000"/>
              </a:lnSpc>
              <a:spcBef>
                <a:spcPts val="105"/>
              </a:spcBef>
            </a:pPr>
            <a:r>
              <a:rPr lang="en-IN" sz="4400" dirty="0">
                <a:solidFill>
                  <a:schemeClr val="accent1"/>
                </a:solidFill>
                <a:sym typeface="+mn-ea"/>
              </a:rPr>
              <a:t>OBJECTIVES</a:t>
            </a:r>
            <a:endParaRPr lang="en-IN" sz="4400" spc="-5" dirty="0">
              <a:solidFill>
                <a:schemeClr val="accent1"/>
              </a:solidFill>
              <a:sym typeface="+mn-ea"/>
            </a:endParaRPr>
          </a:p>
        </p:txBody>
      </p:sp>
      <p:sp>
        <p:nvSpPr>
          <p:cNvPr id="3" name="object 3"/>
          <p:cNvSpPr txBox="1"/>
          <p:nvPr/>
        </p:nvSpPr>
        <p:spPr>
          <a:xfrm>
            <a:off x="993140" y="2496185"/>
            <a:ext cx="9409430" cy="3795395"/>
          </a:xfrm>
          <a:prstGeom prst="rect">
            <a:avLst/>
          </a:prstGeom>
        </p:spPr>
        <p:txBody>
          <a:bodyPr vert="horz" wrap="square" lIns="0" tIns="12065" rIns="0" bIns="0" rtlCol="0">
            <a:noAutofit/>
          </a:bodyPr>
          <a:lstStyle/>
          <a:p>
            <a:pPr marL="355600" marR="409575" indent="-342900">
              <a:lnSpc>
                <a:spcPct val="150000"/>
              </a:lnSpc>
              <a:spcBef>
                <a:spcPts val="95"/>
              </a:spcBef>
              <a:buClr>
                <a:srgbClr val="83992A"/>
              </a:buClr>
              <a:buSzPct val="114000"/>
              <a:buFont typeface="Arial MT"/>
              <a:buChar char="•"/>
              <a:tabLst>
                <a:tab pos="354965" algn="l"/>
                <a:tab pos="355600" algn="l"/>
              </a:tabLst>
            </a:pPr>
            <a:r>
              <a:rPr lang="en-US" sz="2000" dirty="0">
                <a:latin typeface="Yu Gothic UI Semibold" panose="020B0700000000000000" charset="-128"/>
                <a:ea typeface="Yu Gothic UI Semibold" panose="020B0700000000000000" charset="-128"/>
                <a:sym typeface="+mn-ea"/>
              </a:rPr>
              <a:t>To build a calculator : To create a program that can perform arithmetic operations.</a:t>
            </a:r>
            <a:endParaRPr lang="en-US" sz="2000" dirty="0">
              <a:latin typeface="Yu Gothic UI Semibold" panose="020B0700000000000000" charset="-128"/>
              <a:ea typeface="Yu Gothic UI Semibold" panose="020B0700000000000000" charset="-128"/>
              <a:sym typeface="+mn-ea"/>
            </a:endParaRPr>
          </a:p>
          <a:p>
            <a:pPr marL="355600" marR="409575" indent="-342900">
              <a:lnSpc>
                <a:spcPct val="150000"/>
              </a:lnSpc>
              <a:spcBef>
                <a:spcPts val="95"/>
              </a:spcBef>
              <a:buClr>
                <a:srgbClr val="83992A"/>
              </a:buClr>
              <a:buSzPct val="114000"/>
              <a:buFont typeface="Arial MT"/>
              <a:buChar char="•"/>
              <a:tabLst>
                <a:tab pos="354965" algn="l"/>
                <a:tab pos="355600" algn="l"/>
              </a:tabLst>
            </a:pPr>
            <a:r>
              <a:rPr lang="en-US" sz="2000" dirty="0">
                <a:latin typeface="Yu Gothic UI Semibold" panose="020B0700000000000000" charset="-128"/>
                <a:ea typeface="Yu Gothic UI Semibold" panose="020B0700000000000000" charset="-128"/>
                <a:sym typeface="+mn-ea"/>
              </a:rPr>
              <a:t>To practice logic building : Implement the logic for each operation like +, -, *, /.</a:t>
            </a:r>
            <a:endParaRPr lang="en-US" sz="2000" dirty="0">
              <a:latin typeface="Yu Gothic UI Semibold" panose="020B0700000000000000" charset="-128"/>
              <a:ea typeface="Yu Gothic UI Semibold" panose="020B0700000000000000" charset="-128"/>
              <a:sym typeface="+mn-ea"/>
            </a:endParaRPr>
          </a:p>
          <a:p>
            <a:pPr marL="355600" marR="409575" indent="-342900">
              <a:lnSpc>
                <a:spcPct val="150000"/>
              </a:lnSpc>
              <a:spcBef>
                <a:spcPts val="95"/>
              </a:spcBef>
              <a:buClr>
                <a:srgbClr val="83992A"/>
              </a:buClr>
              <a:buSzPct val="114000"/>
              <a:buFont typeface="Arial MT"/>
              <a:buChar char="•"/>
              <a:tabLst>
                <a:tab pos="354965" algn="l"/>
                <a:tab pos="355600" algn="l"/>
              </a:tabLst>
            </a:pPr>
            <a:r>
              <a:rPr lang="en-US" sz="2000" dirty="0">
                <a:latin typeface="Yu Gothic UI Semibold" panose="020B0700000000000000" charset="-128"/>
                <a:ea typeface="Yu Gothic UI Semibold" panose="020B0700000000000000" charset="-128"/>
                <a:sym typeface="+mn-ea"/>
              </a:rPr>
              <a:t>To understand user inputs : Learn how to take and process user inputs.</a:t>
            </a:r>
            <a:endParaRPr lang="en-US" sz="2000" dirty="0">
              <a:latin typeface="Yu Gothic UI Semibold" panose="020B0700000000000000" charset="-128"/>
              <a:ea typeface="Yu Gothic UI Semibold" panose="020B0700000000000000" charset="-128"/>
              <a:sym typeface="+mn-ea"/>
            </a:endParaRPr>
          </a:p>
          <a:p>
            <a:pPr marL="355600" marR="409575" indent="-342900">
              <a:lnSpc>
                <a:spcPct val="150000"/>
              </a:lnSpc>
              <a:spcBef>
                <a:spcPts val="95"/>
              </a:spcBef>
              <a:buClr>
                <a:srgbClr val="83992A"/>
              </a:buClr>
              <a:buSzPct val="114000"/>
              <a:buFont typeface="Arial MT"/>
              <a:buChar char="•"/>
              <a:tabLst>
                <a:tab pos="354965" algn="l"/>
                <a:tab pos="355600" algn="l"/>
              </a:tabLst>
            </a:pPr>
            <a:r>
              <a:rPr lang="en-US" sz="2000" dirty="0">
                <a:latin typeface="Yu Gothic UI Semibold" panose="020B0700000000000000" charset="-128"/>
                <a:ea typeface="Yu Gothic UI Semibold" panose="020B0700000000000000" charset="-128"/>
                <a:sym typeface="+mn-ea"/>
              </a:rPr>
              <a:t>To improve programming skills : Apply programming knowledge practically</a:t>
            </a:r>
            <a:endParaRPr sz="2000">
              <a:latin typeface="Yu Gothic UI Semibold" panose="020B0700000000000000" charset="-128"/>
              <a:ea typeface="Yu Gothic UI Semibold" panose="020B0700000000000000" charset="-128"/>
              <a:cs typeface="Times New Roman" panose="02020603050405020304"/>
            </a:endParaRPr>
          </a:p>
        </p:txBody>
      </p:sp>
      <p:sp>
        <p:nvSpPr>
          <p:cNvPr id="4" name="object 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7670" y="1001395"/>
            <a:ext cx="5160010" cy="921385"/>
          </a:xfrm>
          <a:prstGeom prst="rect">
            <a:avLst/>
          </a:prstGeom>
        </p:spPr>
        <p:txBody>
          <a:bodyPr vert="horz" wrap="square" lIns="0" tIns="13335" rIns="0" bIns="0" rtlCol="0">
            <a:noAutofit/>
          </a:bodyPr>
          <a:lstStyle/>
          <a:p>
            <a:pPr marL="12700">
              <a:lnSpc>
                <a:spcPct val="100000"/>
              </a:lnSpc>
              <a:spcBef>
                <a:spcPts val="105"/>
              </a:spcBef>
            </a:pPr>
            <a:r>
              <a:rPr lang="en-IN" sz="4400" dirty="0">
                <a:solidFill>
                  <a:schemeClr val="accent1"/>
                </a:solidFill>
                <a:sym typeface="+mn-ea"/>
              </a:rPr>
              <a:t>CONCLUSION</a:t>
            </a:r>
            <a:endParaRPr lang="en-IN" sz="4400" dirty="0">
              <a:solidFill>
                <a:schemeClr val="accent1"/>
              </a:solidFill>
              <a:sym typeface="+mn-ea"/>
            </a:endParaRPr>
          </a:p>
        </p:txBody>
      </p:sp>
      <p:sp>
        <p:nvSpPr>
          <p:cNvPr id="3" name="object 3"/>
          <p:cNvSpPr txBox="1"/>
          <p:nvPr/>
        </p:nvSpPr>
        <p:spPr>
          <a:xfrm>
            <a:off x="575945" y="2381885"/>
            <a:ext cx="9809480" cy="3865245"/>
          </a:xfrm>
          <a:prstGeom prst="rect">
            <a:avLst/>
          </a:prstGeom>
        </p:spPr>
        <p:txBody>
          <a:bodyPr vert="horz" wrap="square" lIns="0" tIns="179705" rIns="0" bIns="0" rtlCol="0">
            <a:noAutofit/>
          </a:bodyPr>
          <a:lstStyle/>
          <a:p>
            <a:pPr marL="565150" indent="-342900">
              <a:lnSpc>
                <a:spcPct val="100000"/>
              </a:lnSpc>
              <a:spcBef>
                <a:spcPts val="1415"/>
              </a:spcBef>
              <a:buFont typeface="Arial" panose="020B0604020202020204" pitchFamily="34" charset="0"/>
              <a:buChar char="•"/>
            </a:pPr>
            <a:r>
              <a:rPr lang="en-US" sz="2000" dirty="0">
                <a:latin typeface="Yu Gothic UI Semibold" panose="020B0700000000000000" charset="-128"/>
                <a:ea typeface="Yu Gothic UI Semibold" panose="020B0700000000000000" charset="-128"/>
                <a:sym typeface="+mn-ea"/>
              </a:rPr>
              <a:t>The Basic Calculator project was a great learning experience and provided hands-on practice with core programming concepts. It helped me understand how a real-world application works from the backend logic to the frontend interaction. Through this project, I learned how to design a user interface, implement logic for real-time calculation, and manage user inputs effectively. It improved my confidence in programming and gave me the motivation to build more advanced projects in the future .This internship project helped build a strong foundation for developing more advanced applications in the future and increased my confidence in problem-solving and UI development.</a:t>
            </a:r>
            <a:endParaRPr lang="en-IN" sz="2000" dirty="0">
              <a:latin typeface="Yu Gothic UI Semibold" panose="020B0700000000000000" charset="-128"/>
              <a:ea typeface="Yu Gothic UI Semibold" panose="020B0700000000000000" charset="-128"/>
            </a:endParaRPr>
          </a:p>
          <a:p>
            <a:pPr marL="222250">
              <a:lnSpc>
                <a:spcPct val="100000"/>
              </a:lnSpc>
              <a:spcBef>
                <a:spcPts val="1415"/>
              </a:spcBef>
            </a:pPr>
            <a:endParaRPr sz="2000">
              <a:latin typeface="Yu Gothic UI Semibold" panose="020B0700000000000000" charset="-128"/>
              <a:ea typeface="Yu Gothic UI Semibold" panose="020B0700000000000000" charset="-128"/>
              <a:cs typeface="Times New Roman" panose="02020603050405020304"/>
            </a:endParaRPr>
          </a:p>
        </p:txBody>
      </p:sp>
      <p:sp>
        <p:nvSpPr>
          <p:cNvPr id="4" name="object 4"/>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31310" y="2466975"/>
            <a:ext cx="4582160" cy="1551940"/>
          </a:xfrm>
          <a:prstGeom prst="rect">
            <a:avLst/>
          </a:prstGeom>
        </p:spPr>
        <p:txBody>
          <a:bodyPr vert="horz" wrap="square" lIns="0" tIns="13335" rIns="0" bIns="0" rtlCol="0">
            <a:noAutofit/>
          </a:bodyPr>
          <a:lstStyle/>
          <a:p>
            <a:pPr marL="12700">
              <a:lnSpc>
                <a:spcPct val="100000"/>
              </a:lnSpc>
              <a:spcBef>
                <a:spcPts val="105"/>
              </a:spcBef>
            </a:pPr>
            <a:r>
              <a:rPr sz="5400" spc="-5" dirty="0">
                <a:solidFill>
                  <a:schemeClr val="accent1"/>
                </a:solidFill>
              </a:rPr>
              <a:t>THANK</a:t>
            </a:r>
            <a:r>
              <a:rPr sz="5400" spc="-240" dirty="0">
                <a:solidFill>
                  <a:schemeClr val="accent1"/>
                </a:solidFill>
              </a:rPr>
              <a:t> </a:t>
            </a:r>
            <a:r>
              <a:rPr sz="5400" dirty="0">
                <a:solidFill>
                  <a:schemeClr val="accent1"/>
                </a:solidFill>
              </a:rPr>
              <a:t>YOU</a:t>
            </a:r>
            <a:endParaRPr sz="5400" dirty="0">
              <a:solidFill>
                <a:schemeClr val="accent1"/>
              </a:solidFill>
            </a:endParaRPr>
          </a:p>
        </p:txBody>
      </p:sp>
      <p:sp>
        <p:nvSpPr>
          <p:cNvPr id="3" name="object 3"/>
          <p:cNvSpPr/>
          <p:nvPr/>
        </p:nvSpPr>
        <p:spPr>
          <a:xfrm>
            <a:off x="761" y="761"/>
            <a:ext cx="12190730" cy="6856730"/>
          </a:xfrm>
          <a:custGeom>
            <a:avLst/>
            <a:gdLst/>
            <a:ahLst/>
            <a:cxnLst/>
            <a:rect l="l" t="t" r="r" b="b"/>
            <a:pathLst>
              <a:path w="12190730" h="6856730">
                <a:moveTo>
                  <a:pt x="0" y="0"/>
                </a:moveTo>
                <a:lnTo>
                  <a:pt x="12190476" y="0"/>
                </a:lnTo>
                <a:lnTo>
                  <a:pt x="12190476" y="6856476"/>
                </a:lnTo>
                <a:lnTo>
                  <a:pt x="0" y="6856476"/>
                </a:lnTo>
                <a:lnTo>
                  <a:pt x="0" y="0"/>
                </a:lnTo>
                <a:close/>
              </a:path>
            </a:pathLst>
          </a:custGeom>
          <a:ln w="3175">
            <a:solidFill>
              <a:srgbClr val="000000"/>
            </a:solidFill>
          </a:ln>
        </p:spPr>
        <p:txBody>
          <a:bodyPr wrap="square" lIns="0" tIns="0" rIns="0" bIns="0" rtlCol="0"/>
          <a:lstStyle/>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3519</Words>
  <Application>WPS Presentation</Application>
  <PresentationFormat>Widescreen</PresentationFormat>
  <Paragraphs>74</Paragraphs>
  <Slides>12</Slides>
  <Notes>0</Notes>
  <HiddenSlides>0</HiddenSlides>
  <MMClips>0</MMClips>
  <ScaleCrop>false</ScaleCrop>
  <HeadingPairs>
    <vt:vector size="6" baseType="variant">
      <vt:variant>
        <vt:lpstr>已用的字体</vt:lpstr>
      </vt:variant>
      <vt:variant>
        <vt:i4>29</vt:i4>
      </vt:variant>
      <vt:variant>
        <vt:lpstr>主题</vt:lpstr>
      </vt:variant>
      <vt:variant>
        <vt:i4>1</vt:i4>
      </vt:variant>
      <vt:variant>
        <vt:lpstr>幻灯片标题</vt:lpstr>
      </vt:variant>
      <vt:variant>
        <vt:i4>12</vt:i4>
      </vt:variant>
    </vt:vector>
  </HeadingPairs>
  <TitlesOfParts>
    <vt:vector size="42" baseType="lpstr">
      <vt:lpstr>Arial</vt:lpstr>
      <vt:lpstr>SimSun</vt:lpstr>
      <vt:lpstr>Wingdings</vt:lpstr>
      <vt:lpstr>Times New Roman</vt:lpstr>
      <vt:lpstr>Arial MT</vt:lpstr>
      <vt:lpstr>Calibri</vt:lpstr>
      <vt:lpstr>Microsoft YaHei</vt:lpstr>
      <vt:lpstr>Arial Unicode MS</vt:lpstr>
      <vt:lpstr>Arial Black</vt:lpstr>
      <vt:lpstr>Bahnschrift Condensed</vt:lpstr>
      <vt:lpstr>Arial Narrow</vt:lpstr>
      <vt:lpstr>Bahnschrift Light</vt:lpstr>
      <vt:lpstr>Bahnschrift SemiBold</vt:lpstr>
      <vt:lpstr>Bahnschrift SemiBold Condensed</vt:lpstr>
      <vt:lpstr>Bahnschrift SemiBold SemiCondensed</vt:lpstr>
      <vt:lpstr>Bahnschrift SemiLight Condensed</vt:lpstr>
      <vt:lpstr>Bookman Old Style</vt:lpstr>
      <vt:lpstr>Cambria Math</vt:lpstr>
      <vt:lpstr>Cambria</vt:lpstr>
      <vt:lpstr>Gadugi</vt:lpstr>
      <vt:lpstr>Franklin Gothic Medium</vt:lpstr>
      <vt:lpstr>Microsoft JhengHei UI</vt:lpstr>
      <vt:lpstr>MS Reference Sans Serif</vt:lpstr>
      <vt:lpstr>Palatino Linotype</vt:lpstr>
      <vt:lpstr>Papyrus</vt:lpstr>
      <vt:lpstr>Pristina</vt:lpstr>
      <vt:lpstr>Times New Roman</vt:lpstr>
      <vt:lpstr>Yu Gothic UI Semilight</vt:lpstr>
      <vt:lpstr>Yu Gothic UI Semibold</vt:lpstr>
      <vt:lpstr>Blue Waves</vt:lpstr>
      <vt:lpstr>CLOUD COMPUTING</vt:lpstr>
      <vt:lpstr>INTRODUCTION</vt:lpstr>
      <vt:lpstr>EXSISTING SYSTEM&amp;DISADVANTAGES</vt:lpstr>
      <vt:lpstr>PROPOSED SYSTEM</vt:lpstr>
      <vt:lpstr>SYSTEM ARCHITECTURE</vt:lpstr>
      <vt:lpstr>MODULES</vt:lpstr>
      <vt:lpstr>MODULES</vt:lpstr>
      <vt:lpstr>MODULES</vt:lpstr>
      <vt:lpstr>INPUT DESIGN</vt:lpstr>
      <vt:lpstr>OUTPUT DESIGN</vt:lpstr>
      <vt:lpstr>SYSTEM REQUIREMENTS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WPS_1622990973</cp:lastModifiedBy>
  <cp:revision>3</cp:revision>
  <dcterms:created xsi:type="dcterms:W3CDTF">2024-05-13T16:55:00Z</dcterms:created>
  <dcterms:modified xsi:type="dcterms:W3CDTF">2025-06-17T15:22:41Z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2024-05-07T05:30:00Z</vt:filetime>
  </property>
  <property fmtid="{D5CDD505-2E9C-101B-9397-08002B2CF9AE}" pid="3" name="Creator">
    <vt:lpwstr>WPS Presentation</vt:lpwstr>
  </property>
  <property fmtid="{D5CDD505-2E9C-101B-9397-08002B2CF9AE}" pid="4" name="LastSaved">
    <vt:filetime>2024-05-13T05:30:00Z</vt:filetime>
  </property>
  <property fmtid="{D5CDD505-2E9C-101B-9397-08002B2CF9AE}" pid="5" name="ICV">
    <vt:lpwstr>54A2BEB6E13549D8B63B6DE7A083A220_13</vt:lpwstr>
  </property>
  <property fmtid="{D5CDD505-2E9C-101B-9397-08002B2CF9AE}" pid="6" name="KSOProductBuildVer">
    <vt:lpwstr>1033-12.2.0.21546</vt:lpwstr>
  </property>
</Properties>
</file>